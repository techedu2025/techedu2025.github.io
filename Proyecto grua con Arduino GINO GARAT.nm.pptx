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852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362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300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907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23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6229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458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001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330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2744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18350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5217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9153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8979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77879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1355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507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AA196D9-46BE-483E-BA5A-9056A845303F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9B160-3AC5-46B6-86ED-9B5B09FD1CA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3231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Proyecto </a:t>
            </a:r>
            <a:r>
              <a:rPr lang="es-AR" dirty="0" err="1" smtClean="0"/>
              <a:t>grua</a:t>
            </a:r>
            <a:r>
              <a:rPr lang="es-AR" dirty="0" smtClean="0"/>
              <a:t> con </a:t>
            </a:r>
            <a:r>
              <a:rPr lang="es-AR" dirty="0" err="1" smtClean="0"/>
              <a:t>Arduino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AR" dirty="0" err="1" smtClean="0"/>
              <a:t>Garat</a:t>
            </a:r>
            <a:r>
              <a:rPr lang="es-AR" dirty="0" smtClean="0"/>
              <a:t> Gino</a:t>
            </a:r>
          </a:p>
          <a:p>
            <a:r>
              <a:rPr lang="es-AR" dirty="0" err="1" smtClean="0"/>
              <a:t>Iaquinto</a:t>
            </a:r>
            <a:r>
              <a:rPr lang="es-AR" dirty="0" smtClean="0"/>
              <a:t> </a:t>
            </a:r>
            <a:r>
              <a:rPr lang="es-AR" dirty="0" err="1" smtClean="0"/>
              <a:t>Benjamin</a:t>
            </a:r>
            <a:endParaRPr lang="es-AR" dirty="0" smtClean="0"/>
          </a:p>
          <a:p>
            <a:r>
              <a:rPr lang="es-AR" dirty="0" smtClean="0"/>
              <a:t>Medina Nazareno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5932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0622" y="3194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AR" b="1" dirty="0" smtClean="0"/>
              <a:t>TOTAL </a:t>
            </a:r>
            <a:r>
              <a:rPr lang="es-AR" b="1" dirty="0"/>
              <a:t>DE MODULOS DESTINADOS AL PROYECTO: </a:t>
            </a:r>
            <a:endParaRPr lang="es-AR" dirty="0"/>
          </a:p>
        </p:txBody>
      </p:sp>
      <p:graphicFrame>
        <p:nvGraphicFramePr>
          <p:cNvPr id="7" name="Marcador de contenido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919840"/>
              </p:ext>
            </p:extLst>
          </p:nvPr>
        </p:nvGraphicFramePr>
        <p:xfrm>
          <a:off x="989556" y="2066796"/>
          <a:ext cx="7982994" cy="356962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89952"/>
                <a:gridCol w="5175729"/>
                <a:gridCol w="1717313"/>
              </a:tblGrid>
              <a:tr h="669564">
                <a:tc>
                  <a:txBody>
                    <a:bodyPr/>
                    <a:lstStyle/>
                    <a:p>
                      <a:pPr marL="67945" marR="62230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N° de </a:t>
                      </a:r>
                      <a:r>
                        <a:rPr lang="es-ES" sz="1400" spc="-10" dirty="0">
                          <a:effectLst/>
                        </a:rPr>
                        <a:t>ORDEN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95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Descripción</a:t>
                      </a:r>
                      <a:r>
                        <a:rPr lang="es-ES" sz="1400" spc="-15" dirty="0">
                          <a:effectLst/>
                        </a:rPr>
                        <a:t> </a:t>
                      </a:r>
                      <a:r>
                        <a:rPr lang="es-ES" sz="1400" dirty="0">
                          <a:effectLst/>
                        </a:rPr>
                        <a:t>de</a:t>
                      </a:r>
                      <a:r>
                        <a:rPr lang="es-ES" sz="1400" spc="-20" dirty="0">
                          <a:effectLst/>
                        </a:rPr>
                        <a:t> </a:t>
                      </a:r>
                      <a:r>
                        <a:rPr lang="es-ES" sz="1400" dirty="0">
                          <a:effectLst/>
                        </a:rPr>
                        <a:t>la</a:t>
                      </a:r>
                      <a:r>
                        <a:rPr lang="es-ES" sz="1400" spc="-15" dirty="0">
                          <a:effectLst/>
                        </a:rPr>
                        <a:t> </a:t>
                      </a:r>
                      <a:r>
                        <a:rPr lang="es-ES" sz="1400" spc="-10" dirty="0">
                          <a:effectLst/>
                        </a:rPr>
                        <a:t>tarea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marR="190500">
                        <a:lnSpc>
                          <a:spcPct val="98000"/>
                        </a:lnSpc>
                        <a:spcAft>
                          <a:spcPts val="0"/>
                        </a:spcAft>
                      </a:pPr>
                      <a:r>
                        <a:rPr lang="es-ES" sz="1400" spc="-10" dirty="0">
                          <a:effectLst/>
                        </a:rPr>
                        <a:t>Tiempo </a:t>
                      </a:r>
                      <a:r>
                        <a:rPr lang="es-ES" sz="1400" dirty="0">
                          <a:effectLst/>
                        </a:rPr>
                        <a:t>estimado</a:t>
                      </a:r>
                      <a:r>
                        <a:rPr lang="es-ES" sz="1400" spc="-15" dirty="0">
                          <a:effectLst/>
                        </a:rPr>
                        <a:t> </a:t>
                      </a:r>
                      <a:r>
                        <a:rPr lang="es-ES" sz="1400" spc="-25" dirty="0">
                          <a:effectLst/>
                        </a:rPr>
                        <a:t>en</a:t>
                      </a:r>
                      <a:endParaRPr lang="es-AR" sz="1100" dirty="0">
                        <a:effectLst/>
                      </a:endParaRPr>
                    </a:p>
                    <a:p>
                      <a:pPr marL="67310">
                        <a:lnSpc>
                          <a:spcPts val="153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ES" sz="1400" spc="-10" dirty="0">
                          <a:effectLst/>
                        </a:rPr>
                        <a:t>módulos/</a:t>
                      </a:r>
                      <a:r>
                        <a:rPr lang="es-ES" sz="1400" spc="-10" dirty="0" err="1">
                          <a:effectLst/>
                        </a:rPr>
                        <a:t>hs</a:t>
                      </a:r>
                      <a:r>
                        <a:rPr lang="es-ES" sz="1400" spc="-10" dirty="0">
                          <a:effectLst/>
                        </a:rPr>
                        <a:t>.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23188">
                <a:tc>
                  <a:txBody>
                    <a:bodyPr/>
                    <a:lstStyle/>
                    <a:p>
                      <a:pPr marL="67945">
                        <a:lnSpc>
                          <a:spcPts val="1510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1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1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Identificación</a:t>
                      </a:r>
                      <a:r>
                        <a:rPr lang="es-ES" sz="1400" spc="34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del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problema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o</a:t>
                      </a:r>
                      <a:r>
                        <a:rPr lang="es-ES" sz="1400" spc="-20">
                          <a:effectLst/>
                        </a:rPr>
                        <a:t> </a:t>
                      </a:r>
                      <a:r>
                        <a:rPr lang="es-ES" sz="1400" spc="-10">
                          <a:effectLst/>
                        </a:rPr>
                        <a:t>necesidad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30 minutos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47069">
                <a:tc>
                  <a:txBody>
                    <a:bodyPr/>
                    <a:lstStyle/>
                    <a:p>
                      <a:pPr marL="67945">
                        <a:lnSpc>
                          <a:spcPts val="1590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2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marR="134620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Planteo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la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idea,</a:t>
                      </a:r>
                      <a:r>
                        <a:rPr lang="es-ES" sz="1400" spc="-4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producto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o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solución </a:t>
                      </a:r>
                      <a:r>
                        <a:rPr lang="es-ES" sz="1400" spc="-10">
                          <a:effectLst/>
                        </a:rPr>
                        <a:t>técnica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40 minutos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669564">
                <a:tc>
                  <a:txBody>
                    <a:bodyPr/>
                    <a:lstStyle/>
                    <a:p>
                      <a:pPr marL="679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3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Diseño,</a:t>
                      </a:r>
                      <a:r>
                        <a:rPr lang="es-ES" sz="1400" spc="-3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coquizado,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cómputo y</a:t>
                      </a:r>
                      <a:r>
                        <a:rPr lang="es-ES" sz="1400" spc="-65">
                          <a:effectLst/>
                        </a:rPr>
                        <a:t> </a:t>
                      </a:r>
                      <a:r>
                        <a:rPr lang="es-ES" sz="1400" spc="-10">
                          <a:effectLst/>
                        </a:rPr>
                        <a:t>presupuesto</a:t>
                      </a:r>
                      <a:endParaRPr lang="es-AR" sz="1100">
                        <a:effectLst/>
                      </a:endParaRPr>
                    </a:p>
                    <a:p>
                      <a:pPr marL="67310" marR="134620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de</a:t>
                      </a:r>
                      <a:r>
                        <a:rPr lang="es-ES" sz="1400" spc="-4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materiales,</a:t>
                      </a:r>
                      <a:r>
                        <a:rPr lang="es-ES" sz="1400" spc="-5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planificación</a:t>
                      </a:r>
                      <a:r>
                        <a:rPr lang="es-ES" sz="1400" spc="-4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</a:t>
                      </a:r>
                      <a:r>
                        <a:rPr lang="es-ES" sz="1400" spc="-4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las actividades (Gantt)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20 minutos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44990">
                <a:tc>
                  <a:txBody>
                    <a:bodyPr/>
                    <a:lstStyle/>
                    <a:p>
                      <a:pPr marL="67945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4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5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Adquisición</a:t>
                      </a:r>
                      <a:r>
                        <a:rPr lang="es-ES" sz="1400" spc="-2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y/o</a:t>
                      </a:r>
                      <a:r>
                        <a:rPr lang="es-ES" sz="1400" spc="-2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gestión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</a:t>
                      </a:r>
                      <a:r>
                        <a:rPr lang="es-ES" sz="1400" spc="-2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compras</a:t>
                      </a:r>
                      <a:r>
                        <a:rPr lang="es-ES" sz="1400" spc="-2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 spc="-25">
                          <a:effectLst/>
                        </a:rPr>
                        <a:t>los</a:t>
                      </a:r>
                      <a:endParaRPr lang="es-AR" sz="1100">
                        <a:effectLst/>
                      </a:endParaRPr>
                    </a:p>
                    <a:p>
                      <a:pPr marL="67310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materiales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30 minutos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222495">
                <a:tc>
                  <a:txBody>
                    <a:bodyPr/>
                    <a:lstStyle/>
                    <a:p>
                      <a:pPr marL="67945">
                        <a:lnSpc>
                          <a:spcPts val="1510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5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1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Construcción</a:t>
                      </a:r>
                      <a:r>
                        <a:rPr lang="es-ES" sz="1400" spc="-3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del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 spc="-10">
                          <a:effectLst/>
                        </a:rPr>
                        <a:t>producto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200">
                          <a:effectLst/>
                        </a:rPr>
                        <a:t>4 horas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47763">
                <a:tc>
                  <a:txBody>
                    <a:bodyPr/>
                    <a:lstStyle/>
                    <a:p>
                      <a:pPr marL="67945">
                        <a:lnSpc>
                          <a:spcPts val="1590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6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Presentación</a:t>
                      </a:r>
                      <a:r>
                        <a:rPr lang="es-ES" sz="1400" spc="-3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,</a:t>
                      </a:r>
                      <a:r>
                        <a:rPr lang="es-ES" sz="1400" spc="-4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revisión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y</a:t>
                      </a:r>
                      <a:r>
                        <a:rPr lang="es-ES" sz="1400" spc="-5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conformidad</a:t>
                      </a:r>
                      <a:r>
                        <a:rPr lang="es-ES" sz="1400" spc="-3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del </a:t>
                      </a:r>
                      <a:r>
                        <a:rPr lang="es-ES" sz="1400" spc="-10">
                          <a:effectLst/>
                        </a:rPr>
                        <a:t>producto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>
                          <a:effectLst/>
                        </a:rPr>
                        <a:t>1 hora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44990">
                <a:tc>
                  <a:txBody>
                    <a:bodyPr/>
                    <a:lstStyle/>
                    <a:p>
                      <a:pPr marL="679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 spc="-50">
                          <a:effectLst/>
                        </a:rPr>
                        <a:t>7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Evaluación</a:t>
                      </a:r>
                      <a:r>
                        <a:rPr lang="es-ES" sz="1400" spc="33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(auto</a:t>
                      </a:r>
                      <a:r>
                        <a:rPr lang="es-ES" sz="1400" spc="-2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evaluación</a:t>
                      </a:r>
                      <a:r>
                        <a:rPr lang="es-ES" sz="1400" spc="-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y</a:t>
                      </a:r>
                      <a:r>
                        <a:rPr lang="es-ES" sz="1400" spc="-40">
                          <a:effectLst/>
                        </a:rPr>
                        <a:t> </a:t>
                      </a:r>
                      <a:r>
                        <a:rPr lang="es-ES" sz="1400" spc="-10">
                          <a:effectLst/>
                        </a:rPr>
                        <a:t>hetero</a:t>
                      </a:r>
                      <a:endParaRPr lang="es-AR" sz="1100">
                        <a:effectLst/>
                      </a:endParaRPr>
                    </a:p>
                    <a:p>
                      <a:pPr marL="67310">
                        <a:lnSpc>
                          <a:spcPts val="153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evaluación)</a:t>
                      </a:r>
                      <a:r>
                        <a:rPr lang="es-ES" sz="1400" spc="-3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del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proyecto</a:t>
                      </a:r>
                      <a:r>
                        <a:rPr lang="es-ES" sz="1400" spc="-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y</a:t>
                      </a:r>
                      <a:r>
                        <a:rPr lang="es-ES" sz="1400" spc="-25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del</a:t>
                      </a:r>
                      <a:r>
                        <a:rPr lang="es-ES" sz="1400" spc="-10">
                          <a:effectLst/>
                        </a:rPr>
                        <a:t> producto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300" dirty="0">
                          <a:effectLst/>
                        </a:rPr>
                        <a:t>50 minutos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990655"/>
            <a:ext cx="384664" cy="2438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1155336" rIns="126960" bIns="7871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s-AR" sz="13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27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Descripción </a:t>
            </a:r>
            <a:r>
              <a:rPr lang="es-AR" dirty="0"/>
              <a:t>del Problema, las soluciones e interesados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 smtClean="0"/>
          </a:p>
          <a:p>
            <a:r>
              <a:rPr lang="es-AR" dirty="0"/>
              <a:t>El problema que solucionamos es el movimiento de cargas , puede ser un puerto, un taller , o una fabrica. La </a:t>
            </a:r>
            <a:r>
              <a:rPr lang="es-AR" dirty="0" err="1"/>
              <a:t>grua</a:t>
            </a:r>
            <a:r>
              <a:rPr lang="es-AR" dirty="0"/>
              <a:t> facilitaría el movimiento y transporte de cargas , ya que tiene una amplia movilidad con su brazo de madera </a:t>
            </a:r>
          </a:p>
        </p:txBody>
      </p:sp>
    </p:spTree>
    <p:extLst>
      <p:ext uri="{BB962C8B-B14F-4D97-AF65-F5344CB8AC3E}">
        <p14:creationId xmlns:p14="http://schemas.microsoft.com/office/powerpoint/2010/main" val="305284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25500">
              <a:lnSpc>
                <a:spcPct val="107000"/>
              </a:lnSpc>
              <a:spcBef>
                <a:spcPts val="315"/>
              </a:spcBef>
              <a:spcAft>
                <a:spcPts val="800"/>
              </a:spcAft>
            </a:pPr>
            <a:r>
              <a:rPr lang="es-AR" b="1" spc="-1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s-AR" b="1" spc="-1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AR" b="1" spc="-1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Diseño:</a:t>
            </a:r>
            <a:r>
              <a:rPr lang="es-AR" sz="280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s-AR" sz="280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s-AR" dirty="0"/>
          </a:p>
        </p:txBody>
      </p:sp>
      <p:pic>
        <p:nvPicPr>
          <p:cNvPr id="5" name="Imagen 4" descr="https://techedu2025.github.io/SistemasTecnologicos/images/Sistemas2026/IMG_20260602_103036403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953" y="1853248"/>
            <a:ext cx="7391400" cy="3383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350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/>
              <a:t>Fases Operativas</a:t>
            </a:r>
            <a:r>
              <a:rPr lang="es-AR" dirty="0"/>
              <a:t/>
            </a:r>
            <a:br>
              <a:rPr lang="es-AR" dirty="0"/>
            </a:br>
            <a:endParaRPr lang="es-AR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26808"/>
              </p:ext>
            </p:extLst>
          </p:nvPr>
        </p:nvGraphicFramePr>
        <p:xfrm>
          <a:off x="776613" y="2041742"/>
          <a:ext cx="7676824" cy="38042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25085"/>
                <a:gridCol w="851395"/>
                <a:gridCol w="2453362"/>
                <a:gridCol w="1767420"/>
                <a:gridCol w="1579562"/>
              </a:tblGrid>
              <a:tr h="1012362">
                <a:tc>
                  <a:txBody>
                    <a:bodyPr/>
                    <a:lstStyle/>
                    <a:p>
                      <a:pPr marL="288290" marR="69215" indent="-215900">
                        <a:spcAft>
                          <a:spcPts val="0"/>
                        </a:spcAft>
                      </a:pPr>
                      <a:r>
                        <a:rPr lang="es-ES" sz="1200" spc="-10" dirty="0">
                          <a:effectLst/>
                        </a:rPr>
                        <a:t>Operación </a:t>
                      </a:r>
                      <a:r>
                        <a:rPr lang="es-ES" sz="1200" spc="-20" dirty="0">
                          <a:effectLst/>
                        </a:rPr>
                        <a:t>nro</a:t>
                      </a:r>
                      <a:r>
                        <a:rPr lang="es-ES" sz="1400" spc="-20" dirty="0">
                          <a:effectLst/>
                        </a:rPr>
                        <a:t>.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 marR="85090" indent="-5588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Pieza </a:t>
                      </a:r>
                      <a:r>
                        <a:rPr lang="es-ES" sz="1400" spc="-20">
                          <a:effectLst/>
                        </a:rPr>
                        <a:t>Nro.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Tarea</a:t>
                      </a:r>
                      <a:r>
                        <a:rPr lang="es-ES" sz="1400" spc="-10">
                          <a:effectLst/>
                        </a:rPr>
                        <a:t> </a:t>
                      </a:r>
                      <a:r>
                        <a:rPr lang="es-ES" sz="1400">
                          <a:effectLst/>
                        </a:rPr>
                        <a:t>a</a:t>
                      </a:r>
                      <a:r>
                        <a:rPr lang="es-ES" sz="1400" spc="-15">
                          <a:effectLst/>
                        </a:rPr>
                        <a:t> </a:t>
                      </a:r>
                      <a:r>
                        <a:rPr lang="es-ES" sz="1400" spc="-10">
                          <a:effectLst/>
                        </a:rPr>
                        <a:t>desarrollar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 marR="76835" algn="ctr"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Herramientas, </a:t>
                      </a:r>
                      <a:r>
                        <a:rPr lang="es-ES" sz="1400">
                          <a:effectLst/>
                        </a:rPr>
                        <a:t>útiles y equipos a</a:t>
                      </a:r>
                      <a:endParaRPr lang="es-AR" sz="1100">
                        <a:effectLst/>
                      </a:endParaRPr>
                    </a:p>
                    <a:p>
                      <a:pPr marL="83820" marR="7683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utilizar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91440" algn="ctr"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Elementos </a:t>
                      </a:r>
                      <a:r>
                        <a:rPr lang="es-ES" sz="1400" spc="-30">
                          <a:effectLst/>
                        </a:rPr>
                        <a:t>de </a:t>
                      </a:r>
                      <a:r>
                        <a:rPr lang="es-ES" sz="1400" spc="-10">
                          <a:effectLst/>
                        </a:rPr>
                        <a:t>protección</a:t>
                      </a:r>
                      <a:endParaRPr lang="es-AR" sz="1100">
                        <a:effectLst/>
                      </a:endParaRPr>
                    </a:p>
                    <a:p>
                      <a:pPr marL="93345" marR="9334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1400" spc="-10">
                          <a:effectLst/>
                        </a:rPr>
                        <a:t>personal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76141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Uno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Uno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Armar la base de madera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Madera, martillo, clavo, serrucho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Guantes, guardapolvo, antiparras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015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Dos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Dos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Armar el brazo de madera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Madera, clavos, martillo, serrucho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Guantes, guardapolvo, antiparras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07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Tres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Tres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Armar el gancho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Pinza, alambre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Guantes, antiparras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5076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Cuatro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Cuatro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Armar el circuito eléctrico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Destornillador, pinza y alicate</a:t>
                      </a:r>
                      <a:endParaRPr lang="es-AR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Antiparras</a:t>
                      </a:r>
                      <a:endParaRPr lang="es-AR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1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Construccion</a:t>
            </a:r>
            <a:r>
              <a:rPr lang="es-ES" dirty="0" smtClean="0"/>
              <a:t> del producto</a:t>
            </a:r>
            <a:endParaRPr lang="es-AR" dirty="0"/>
          </a:p>
        </p:txBody>
      </p:sp>
      <p:pic>
        <p:nvPicPr>
          <p:cNvPr id="4098" name="Picture 2" descr="https://techedu2025.github.io/SistemasTecnologicos/images/Sistemas2026/IMG_20260602_10392716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853248"/>
            <a:ext cx="8947150" cy="4026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58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250</Words>
  <Application>Microsoft Office PowerPoint</Application>
  <PresentationFormat>Panorámica</PresentationFormat>
  <Paragraphs>67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Century Gothic</vt:lpstr>
      <vt:lpstr>Times New Roman</vt:lpstr>
      <vt:lpstr>Wingdings 3</vt:lpstr>
      <vt:lpstr>Ion</vt:lpstr>
      <vt:lpstr>Proyecto grua con Arduino </vt:lpstr>
      <vt:lpstr>TOTAL DE MODULOS DESTINADOS AL PROYECTO: </vt:lpstr>
      <vt:lpstr>Descripción del Problema, las soluciones e interesados</vt:lpstr>
      <vt:lpstr> Diseño: </vt:lpstr>
      <vt:lpstr>Fases Operativas </vt:lpstr>
      <vt:lpstr>Construccion del producto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grua con Arduino</dc:title>
  <dc:creator>Admin</dc:creator>
  <cp:lastModifiedBy>Admin</cp:lastModifiedBy>
  <cp:revision>6</cp:revision>
  <dcterms:created xsi:type="dcterms:W3CDTF">2026-06-09T11:23:03Z</dcterms:created>
  <dcterms:modified xsi:type="dcterms:W3CDTF">2026-06-09T12:03:15Z</dcterms:modified>
</cp:coreProperties>
</file>